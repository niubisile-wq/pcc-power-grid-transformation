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68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manuscript Fig. 1 was used as the content reference. The supplied ML Visuals PPTX component library was used as a style and component reference for pastel rounded modules and lightweight flow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Spare components are native PowerPoint shapes styled after the supplied ML Visuals PPTX component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73152"/>
            <a:ext cx="2286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84048"/>
            <a:ext cx="6583680" cy="32004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A valid numerical answer can describe the wrong transformed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1901952" cy="69494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0">
                <a:solidFill>
                  <a:srgbClr val="262626"/>
                </a:solidFill>
                <a:latin typeface="Arial"/>
              </a:rPr>
              <a:t>Source</a:t>
            </a:r>
            <a:br/>
            <a:r>
              <a:rPr sz="1500" b="0">
                <a:solidFill>
                  <a:srgbClr val="262626"/>
                </a:solidFill>
                <a:latin typeface="Arial"/>
              </a:rPr>
              <a:t>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298448"/>
            <a:ext cx="1901952" cy="69494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0">
                <a:solidFill>
                  <a:srgbClr val="262626"/>
                </a:solidFill>
                <a:latin typeface="Arial"/>
              </a:rPr>
              <a:t>Converter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8" y="1298448"/>
            <a:ext cx="1901952" cy="694944"/>
          </a:xfrm>
          <a:prstGeom prst="roundRect">
            <a:avLst/>
          </a:prstGeom>
          <a:solidFill>
            <a:srgbClr val="F9E2E0"/>
          </a:solidFill>
          <a:ln w="2159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0">
                <a:solidFill>
                  <a:srgbClr val="262626"/>
                </a:solidFill>
                <a:latin typeface="Arial"/>
              </a:rPr>
              <a:t>Parseable</a:t>
            </a:r>
            <a:br/>
            <a:r>
              <a:rPr sz="1500" b="0">
                <a:solidFill>
                  <a:srgbClr val="262626"/>
                </a:solidFill>
                <a:latin typeface="Arial"/>
              </a:rPr>
              <a:t>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9792" y="1298448"/>
            <a:ext cx="1901952" cy="694944"/>
          </a:xfrm>
          <a:prstGeom prst="roundRect">
            <a:avLst/>
          </a:prstGeom>
          <a:solidFill>
            <a:srgbClr val="F9E2E0"/>
          </a:solidFill>
          <a:ln w="2159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0">
                <a:solidFill>
                  <a:srgbClr val="262626"/>
                </a:solidFill>
                <a:latin typeface="Arial"/>
              </a:rPr>
              <a:t>Security</a:t>
            </a:r>
            <a:br/>
            <a:r>
              <a:rPr sz="1500" b="0">
                <a:solidFill>
                  <a:srgbClr val="262626"/>
                </a:solidFill>
                <a:latin typeface="Arial"/>
              </a:rPr>
              <a:t>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0656" y="1298448"/>
            <a:ext cx="1901952" cy="694944"/>
          </a:xfrm>
          <a:prstGeom prst="roundRect">
            <a:avLst/>
          </a:prstGeom>
          <a:solidFill>
            <a:srgbClr val="F9E2E0"/>
          </a:solidFill>
          <a:ln w="2159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0">
                <a:solidFill>
                  <a:srgbClr val="262626"/>
                </a:solidFill>
                <a:latin typeface="Arial"/>
              </a:rPr>
              <a:t>Numerical</a:t>
            </a:r>
            <a:br/>
            <a:r>
              <a:rPr sz="1500" b="0">
                <a:solidFill>
                  <a:srgbClr val="262626"/>
                </a:solidFill>
                <a:latin typeface="Arial"/>
              </a:rPr>
              <a:t>result</a:t>
            </a:r>
          </a:p>
        </p:txBody>
      </p:sp>
      <p:cxnSp>
        <p:nvCxnSpPr>
          <p:cNvPr id="9" name="arrow_01"/>
          <p:cNvCxnSpPr/>
          <p:nvPr/>
        </p:nvCxnSpPr>
        <p:spPr>
          <a:xfrm>
            <a:off x="2340864" y="1645919"/>
            <a:ext cx="566928" cy="0"/>
          </a:xfrm>
          <a:prstGeom prst="line">
            <a:avLst/>
          </a:prstGeom>
          <a:ln w="27940">
            <a:solidFill>
              <a:srgbClr val="7878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_02"/>
          <p:cNvCxnSpPr/>
          <p:nvPr/>
        </p:nvCxnSpPr>
        <p:spPr>
          <a:xfrm>
            <a:off x="4681728" y="1645919"/>
            <a:ext cx="566928" cy="0"/>
          </a:xfrm>
          <a:prstGeom prst="line">
            <a:avLst/>
          </a:prstGeom>
          <a:ln w="27940">
            <a:solidFill>
              <a:srgbClr val="7878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_03"/>
          <p:cNvCxnSpPr/>
          <p:nvPr/>
        </p:nvCxnSpPr>
        <p:spPr>
          <a:xfrm>
            <a:off x="7022592" y="1645919"/>
            <a:ext cx="566927" cy="0"/>
          </a:xfrm>
          <a:prstGeom prst="line">
            <a:avLst/>
          </a:prstGeom>
          <a:ln w="27940">
            <a:solidFill>
              <a:srgbClr val="7878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_04"/>
          <p:cNvCxnSpPr/>
          <p:nvPr/>
        </p:nvCxnSpPr>
        <p:spPr>
          <a:xfrm>
            <a:off x="9363456" y="1645919"/>
            <a:ext cx="566928" cy="0"/>
          </a:xfrm>
          <a:prstGeom prst="line">
            <a:avLst/>
          </a:prstGeom>
          <a:ln w="27940">
            <a:solidFill>
              <a:srgbClr val="7878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41417" y="896112"/>
            <a:ext cx="0" cy="1499616"/>
          </a:xfrm>
          <a:prstGeom prst="line">
            <a:avLst/>
          </a:prstGeom>
          <a:ln w="22860">
            <a:solidFill>
              <a:srgbClr val="BF46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02889" y="2487168"/>
            <a:ext cx="3520440" cy="256032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300" b="0">
                <a:solidFill>
                  <a:srgbClr val="BF4646"/>
                </a:solidFill>
                <a:latin typeface="Arial"/>
              </a:rPr>
              <a:t>identity / relation / intervention semantics may change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896112"/>
            <a:ext cx="1600200" cy="256032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300" b="0">
                <a:solidFill>
                  <a:srgbClr val="BF4646"/>
                </a:solidFill>
                <a:latin typeface="Arial"/>
              </a:rPr>
              <a:t>solves successfully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3383280"/>
            <a:ext cx="2286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03320"/>
            <a:ext cx="3840480" cy="32004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Task-bound certificate obligations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160520"/>
            <a:ext cx="2560320" cy="51206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Exact snapshots</a:t>
            </a:r>
            <a:br/>
            <a:r>
              <a:rPr sz="1300" b="0">
                <a:solidFill>
                  <a:srgbClr val="262626"/>
                </a:solidFill>
                <a:latin typeface="Arial"/>
              </a:rPr>
              <a:t>hashes + freshness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160520"/>
            <a:ext cx="2560320" cy="51206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Asset relations</a:t>
            </a:r>
            <a:br/>
            <a:r>
              <a:rPr sz="1300" b="0">
                <a:solidFill>
                  <a:srgbClr val="262626"/>
                </a:solidFill>
                <a:latin typeface="Arial"/>
              </a:rPr>
              <a:t>coverage + cardinality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92040"/>
            <a:ext cx="2560320" cy="51206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Attributes</a:t>
            </a:r>
            <a:br/>
            <a:r>
              <a:rPr sz="1300" b="0">
                <a:solidFill>
                  <a:srgbClr val="262626"/>
                </a:solidFill>
                <a:latin typeface="Arial"/>
              </a:rPr>
              <a:t>task tolerances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892040"/>
            <a:ext cx="2560320" cy="51206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Interventions</a:t>
            </a:r>
            <a:br/>
            <a:r>
              <a:rPr sz="1300" b="0">
                <a:solidFill>
                  <a:srgbClr val="262626"/>
                </a:solidFill>
                <a:latin typeface="Arial"/>
              </a:rPr>
              <a:t>action equivalence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623560"/>
            <a:ext cx="2560320" cy="51206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Converter trace</a:t>
            </a:r>
            <a:br/>
            <a:r>
              <a:rPr sz="1300" b="0">
                <a:solidFill>
                  <a:srgbClr val="262626"/>
                </a:solidFill>
                <a:latin typeface="Arial"/>
              </a:rPr>
              <a:t>authoritative agreement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5623560"/>
            <a:ext cx="2560320" cy="512064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Issuer</a:t>
            </a:r>
            <a:br/>
            <a:r>
              <a:rPr sz="1300" b="0">
                <a:solidFill>
                  <a:srgbClr val="262626"/>
                </a:solidFill>
                <a:latin typeface="Arial"/>
              </a:rPr>
              <a:t>signature + nonce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355080"/>
            <a:ext cx="484632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Arial"/>
              </a:rPr>
              <a:t>Trusted: contract, registry, keys, trace, verifier, protected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83280"/>
            <a:ext cx="2286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703320"/>
            <a:ext cx="4846320" cy="32004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Only accept can cross the execution boundary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4462272"/>
            <a:ext cx="1417320" cy="658368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Arial"/>
              </a:rPr>
              <a:t>PCC</a:t>
            </a:r>
            <a:br/>
            <a:r>
              <a:rPr sz="1400" b="1">
                <a:solidFill>
                  <a:srgbClr val="262626"/>
                </a:solidFill>
                <a:latin typeface="Arial"/>
              </a:rPr>
              <a:t>verifier</a:t>
            </a:r>
          </a:p>
        </p:txBody>
      </p:sp>
      <p:sp>
        <p:nvSpPr>
          <p:cNvPr id="28" name="Diamond 27"/>
          <p:cNvSpPr/>
          <p:nvPr/>
        </p:nvSpPr>
        <p:spPr>
          <a:xfrm>
            <a:off x="8247888" y="4352544"/>
            <a:ext cx="1371600" cy="877824"/>
          </a:xfrm>
          <a:prstGeom prst="diamond">
            <a:avLst/>
          </a:prstGeom>
          <a:solidFill>
            <a:srgbClr val="FFFFFF"/>
          </a:solidFill>
          <a:ln w="2286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681728"/>
            <a:ext cx="1042416" cy="219456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200" b="0">
                <a:solidFill>
                  <a:srgbClr val="262626"/>
                </a:solidFill>
                <a:latin typeface="Arial"/>
              </a:rPr>
              <a:t>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462272"/>
            <a:ext cx="1417320" cy="658368"/>
          </a:xfrm>
          <a:prstGeom prst="roundRect">
            <a:avLst/>
          </a:prstGeom>
          <a:solidFill>
            <a:srgbClr val="DCF2E8"/>
          </a:solidFill>
          <a:ln w="21590">
            <a:solidFill>
              <a:srgbClr val="2A8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Arial"/>
              </a:rPr>
              <a:t>Protected</a:t>
            </a:r>
            <a:br/>
            <a:r>
              <a:rPr sz="1400" b="1">
                <a:solidFill>
                  <a:srgbClr val="262626"/>
                </a:solidFill>
                <a:latin typeface="Arial"/>
              </a:rPr>
              <a:t>solver</a:t>
            </a:r>
          </a:p>
        </p:txBody>
      </p:sp>
      <p:cxnSp>
        <p:nvCxnSpPr>
          <p:cNvPr id="31" name="arrow_05"/>
          <p:cNvCxnSpPr/>
          <p:nvPr/>
        </p:nvCxnSpPr>
        <p:spPr>
          <a:xfrm>
            <a:off x="8019288" y="4791456"/>
            <a:ext cx="320039" cy="0"/>
          </a:xfrm>
          <a:prstGeom prst="line">
            <a:avLst/>
          </a:prstGeom>
          <a:ln w="29209">
            <a:solidFill>
              <a:srgbClr val="18559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rrow_06"/>
          <p:cNvCxnSpPr/>
          <p:nvPr/>
        </p:nvCxnSpPr>
        <p:spPr>
          <a:xfrm>
            <a:off x="9537192" y="4791456"/>
            <a:ext cx="731520" cy="0"/>
          </a:xfrm>
          <a:prstGeom prst="line">
            <a:avLst/>
          </a:prstGeom>
          <a:ln w="29209">
            <a:solidFill>
              <a:srgbClr val="2A8E6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02368" y="4407408"/>
            <a:ext cx="658368" cy="219456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200" b="1">
                <a:solidFill>
                  <a:srgbClr val="2A8E6C"/>
                </a:solidFill>
                <a:latin typeface="Arial"/>
              </a:rPr>
              <a:t>accept</a:t>
            </a:r>
          </a:p>
        </p:txBody>
      </p:sp>
      <p:cxnSp>
        <p:nvCxnSpPr>
          <p:cNvPr id="34" name="arrow_07"/>
          <p:cNvCxnSpPr/>
          <p:nvPr/>
        </p:nvCxnSpPr>
        <p:spPr>
          <a:xfrm flipH="1">
            <a:off x="8357616" y="5212080"/>
            <a:ext cx="466344" cy="594360"/>
          </a:xfrm>
          <a:prstGeom prst="line">
            <a:avLst/>
          </a:prstGeom>
          <a:ln w="26670">
            <a:solidFill>
              <a:srgbClr val="BF46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845552" y="5760720"/>
            <a:ext cx="1234440" cy="457200"/>
          </a:xfrm>
          <a:prstGeom prst="roundRect">
            <a:avLst/>
          </a:prstGeom>
          <a:solidFill>
            <a:srgbClr val="F9E2E0"/>
          </a:solidFill>
          <a:ln w="2159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reject</a:t>
            </a:r>
          </a:p>
        </p:txBody>
      </p:sp>
      <p:cxnSp>
        <p:nvCxnSpPr>
          <p:cNvPr id="36" name="arrow_08"/>
          <p:cNvCxnSpPr/>
          <p:nvPr/>
        </p:nvCxnSpPr>
        <p:spPr>
          <a:xfrm>
            <a:off x="9189720" y="5212080"/>
            <a:ext cx="557784" cy="594360"/>
          </a:xfrm>
          <a:prstGeom prst="line">
            <a:avLst/>
          </a:prstGeom>
          <a:ln w="26670">
            <a:solidFill>
              <a:srgbClr val="DD8E2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55480" y="5760720"/>
            <a:ext cx="1417320" cy="457200"/>
          </a:xfrm>
          <a:prstGeom prst="roundRect">
            <a:avLst/>
          </a:prstGeom>
          <a:solidFill>
            <a:srgbClr val="FFEFD5"/>
          </a:solidFill>
          <a:ln w="21590">
            <a:solidFill>
              <a:srgbClr val="DD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rgbClr val="262626"/>
                </a:solidFill>
                <a:latin typeface="Arial"/>
              </a:rPr>
              <a:t>unresolved</a:t>
            </a:r>
          </a:p>
        </p:txBody>
      </p:sp>
      <p:cxnSp>
        <p:nvCxnSpPr>
          <p:cNvPr id="38" name="arrow_09"/>
          <p:cNvCxnSpPr/>
          <p:nvPr/>
        </p:nvCxnSpPr>
        <p:spPr>
          <a:xfrm>
            <a:off x="10991088" y="5120640"/>
            <a:ext cx="0" cy="384048"/>
          </a:xfrm>
          <a:prstGeom prst="line">
            <a:avLst/>
          </a:prstGeom>
          <a:ln w="27940">
            <a:solidFill>
              <a:srgbClr val="18559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497312" y="5522976"/>
            <a:ext cx="1033271" cy="3657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100" b="0">
                <a:solidFill>
                  <a:srgbClr val="185591"/>
                </a:solidFill>
                <a:latin typeface="Arial"/>
              </a:rPr>
              <a:t>receipt binds</a:t>
            </a:r>
            <a:br/>
            <a:r>
              <a:rPr sz="1100" b="0">
                <a:solidFill>
                  <a:srgbClr val="185591"/>
                </a:solidFill>
                <a:latin typeface="Arial"/>
              </a:rPr>
              <a:t>verified inputs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382512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300" b="0">
                <a:solidFill>
                  <a:srgbClr val="BF4646"/>
                </a:solidFill>
                <a:latin typeface="Arial"/>
              </a:rPr>
              <a:t>fail closed: 0 solver starts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7315200" cy="41148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Editable spare parts for manual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768096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Arial"/>
              </a:rPr>
              <a:t>Drag these native PowerPoint shapes into Slide 1 if you want to redraw or adjust the figure by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600200" cy="566928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262626"/>
                </a:solidFill>
                <a:latin typeface="Arial"/>
              </a:rPr>
              <a:t>source / verifier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417320"/>
            <a:ext cx="1600200" cy="566928"/>
          </a:xfrm>
          <a:prstGeom prst="roundRect">
            <a:avLst/>
          </a:prstGeom>
          <a:solidFill>
            <a:srgbClr val="F9E2E0"/>
          </a:solidFill>
          <a:ln w="2159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262626"/>
                </a:solidFill>
                <a:latin typeface="Arial"/>
              </a:rPr>
              <a:t>changed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417320"/>
            <a:ext cx="1600200" cy="566928"/>
          </a:xfrm>
          <a:prstGeom prst="roundRect">
            <a:avLst/>
          </a:prstGeom>
          <a:solidFill>
            <a:srgbClr val="DCF2E8"/>
          </a:solidFill>
          <a:ln w="21590">
            <a:solidFill>
              <a:srgbClr val="2A8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262626"/>
                </a:solidFill>
                <a:latin typeface="Arial"/>
              </a:rPr>
              <a:t>accepted 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17320"/>
            <a:ext cx="1600200" cy="566928"/>
          </a:xfrm>
          <a:prstGeom prst="roundRect">
            <a:avLst/>
          </a:prstGeom>
          <a:solidFill>
            <a:srgbClr val="FFEFD5"/>
          </a:solidFill>
          <a:ln w="21590">
            <a:solidFill>
              <a:srgbClr val="DD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262626"/>
                </a:solidFill>
                <a:latin typeface="Arial"/>
              </a:rPr>
              <a:t>unresolved branch</a:t>
            </a:r>
          </a:p>
        </p:txBody>
      </p:sp>
      <p:sp>
        <p:nvSpPr>
          <p:cNvPr id="8" name="Diamond 7"/>
          <p:cNvSpPr/>
          <p:nvPr/>
        </p:nvSpPr>
        <p:spPr>
          <a:xfrm>
            <a:off x="868680" y="2487168"/>
            <a:ext cx="1097280" cy="713232"/>
          </a:xfrm>
          <a:prstGeom prst="diamond">
            <a:avLst/>
          </a:prstGeom>
          <a:solidFill>
            <a:srgbClr val="FFFFFF"/>
          </a:solidFill>
          <a:ln w="2286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734056"/>
            <a:ext cx="768096" cy="219456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Arial"/>
              </a:rPr>
              <a:t>decision</a:t>
            </a:r>
          </a:p>
        </p:txBody>
      </p:sp>
      <p:cxnSp>
        <p:nvCxnSpPr>
          <p:cNvPr id="10" name="arrow_10"/>
          <p:cNvCxnSpPr/>
          <p:nvPr/>
        </p:nvCxnSpPr>
        <p:spPr>
          <a:xfrm>
            <a:off x="2331720" y="2834640"/>
            <a:ext cx="1005840" cy="0"/>
          </a:xfrm>
          <a:prstGeom prst="line">
            <a:avLst/>
          </a:prstGeom>
          <a:ln w="27940">
            <a:solidFill>
              <a:srgbClr val="18559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_11"/>
          <p:cNvCxnSpPr/>
          <p:nvPr/>
        </p:nvCxnSpPr>
        <p:spPr>
          <a:xfrm>
            <a:off x="3749039" y="2834640"/>
            <a:ext cx="1005841" cy="0"/>
          </a:xfrm>
          <a:prstGeom prst="line">
            <a:avLst/>
          </a:prstGeom>
          <a:ln w="27940">
            <a:solidFill>
              <a:srgbClr val="7878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2423160"/>
            <a:ext cx="0" cy="822960"/>
          </a:xfrm>
          <a:prstGeom prst="line">
            <a:avLst/>
          </a:prstGeom>
          <a:ln w="22860">
            <a:solidFill>
              <a:srgbClr val="BF46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7840" y="2587752"/>
            <a:ext cx="2560320" cy="32004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BF4646"/>
                </a:solidFill>
                <a:latin typeface="Arial"/>
              </a:rPr>
              <a:t>annotation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39"/>
            <a:ext cx="310896" cy="228600"/>
          </a:xfrm>
          <a:prstGeom prst="roundRect">
            <a:avLst/>
          </a:prstGeom>
          <a:solidFill>
            <a:srgbClr val="E8F0FA"/>
          </a:solidFill>
          <a:ln w="21590">
            <a:solidFill>
              <a:srgbClr val="18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600" b="0">
                <a:solidFill>
                  <a:srgbClr val="262626"/>
                </a:solidFill>
                <a:latin typeface="Arial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749039"/>
            <a:ext cx="310896" cy="228600"/>
          </a:xfrm>
          <a:prstGeom prst="roundRect">
            <a:avLst/>
          </a:prstGeom>
          <a:solidFill>
            <a:srgbClr val="F9E2E0"/>
          </a:solidFill>
          <a:ln w="21590">
            <a:solidFill>
              <a:srgbClr val="B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600" b="0">
                <a:solidFill>
                  <a:srgbClr val="262626"/>
                </a:solidFill>
                <a:latin typeface="Arial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749039"/>
            <a:ext cx="310896" cy="228600"/>
          </a:xfrm>
          <a:prstGeom prst="roundRect">
            <a:avLst/>
          </a:prstGeom>
          <a:solidFill>
            <a:srgbClr val="DCF2E8"/>
          </a:solidFill>
          <a:ln w="21590">
            <a:solidFill>
              <a:srgbClr val="2A8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600" b="0">
                <a:solidFill>
                  <a:srgbClr val="262626"/>
                </a:solidFill>
                <a:latin typeface="Arial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749039"/>
            <a:ext cx="310896" cy="228600"/>
          </a:xfrm>
          <a:prstGeom prst="roundRect">
            <a:avLst/>
          </a:prstGeom>
          <a:solidFill>
            <a:srgbClr val="FFEFD5"/>
          </a:solidFill>
          <a:ln w="21590">
            <a:solidFill>
              <a:srgbClr val="DD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600" b="0">
                <a:solidFill>
                  <a:srgbClr val="262626"/>
                </a:solidFill>
                <a:latin typeface="Arial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72200"/>
            <a:ext cx="758952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Arial"/>
              </a:rPr>
              <a:t>All objects are editable: text boxes, rounded rectangles, diamonds, connectors, and spare color swatches.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</Words>
  <Application>Microsoft Office PowerPoint</Application>
  <PresentationFormat>宽屏</PresentationFormat>
  <Paragraphs>45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zixuan Liu</cp:lastModifiedBy>
  <cp:revision>2</cp:revision>
  <dcterms:created xsi:type="dcterms:W3CDTF">2013-01-27T09:14:16Z</dcterms:created>
  <dcterms:modified xsi:type="dcterms:W3CDTF">2026-08-08T21:00:14Z</dcterms:modified>
  <cp:category/>
</cp:coreProperties>
</file>