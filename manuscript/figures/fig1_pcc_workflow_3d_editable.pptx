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plain_line"/>
          <p:cNvCxnSpPr/>
          <p:nvPr/>
        </p:nvCxnSpPr>
        <p:spPr>
          <a:xfrm>
            <a:off x="411480" y="2103120"/>
            <a:ext cx="11338560" cy="0"/>
          </a:xfrm>
          <a:prstGeom prst="line">
            <a:avLst/>
          </a:prstGeom>
          <a:ln w="10160">
            <a:solidFill>
              <a:srgbClr val="DEE4E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plain_line"/>
          <p:cNvCxnSpPr/>
          <p:nvPr/>
        </p:nvCxnSpPr>
        <p:spPr>
          <a:xfrm>
            <a:off x="411480" y="4334256"/>
            <a:ext cx="11338560" cy="0"/>
          </a:xfrm>
          <a:prstGeom prst="line">
            <a:avLst/>
          </a:prstGeom>
          <a:ln w="10160">
            <a:solidFill>
              <a:srgbClr val="DEE4E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228600"/>
            <a:ext cx="201168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100" b="1">
                <a:solidFill>
                  <a:srgbClr val="1F2730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37744"/>
            <a:ext cx="338328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050" b="1">
                <a:solidFill>
                  <a:srgbClr val="1F2730"/>
                </a:solidFill>
                <a:latin typeface="Arial"/>
              </a:rPr>
              <a:t>Transformation record and study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201168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100" b="1">
                <a:solidFill>
                  <a:srgbClr val="1F2730"/>
                </a:solidFill>
                <a:latin typeface="Arial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40863"/>
            <a:ext cx="338328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050" b="1">
                <a:solidFill>
                  <a:srgbClr val="1F2730"/>
                </a:solidFill>
                <a:latin typeface="Arial"/>
              </a:rPr>
              <a:t>Certificate obligations bound to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201168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100" b="1">
                <a:solidFill>
                  <a:srgbClr val="1F273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626864"/>
            <a:ext cx="338328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050" b="1">
                <a:solidFill>
                  <a:srgbClr val="1F2730"/>
                </a:solidFill>
                <a:latin typeface="Arial"/>
              </a:rPr>
              <a:t>Proof-carrying execution path</a:t>
            </a:r>
          </a:p>
        </p:txBody>
      </p:sp>
      <p:cxnSp>
        <p:nvCxnSpPr>
          <p:cNvPr id="11" name="flow_arrow"/>
          <p:cNvCxnSpPr/>
          <p:nvPr/>
        </p:nvCxnSpPr>
        <p:spPr>
          <a:xfrm>
            <a:off x="2103120" y="1161288"/>
            <a:ext cx="365760" cy="0"/>
          </a:xfrm>
          <a:prstGeom prst="line">
            <a:avLst/>
          </a:prstGeom>
          <a:ln w="2286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low_arrow"/>
          <p:cNvCxnSpPr/>
          <p:nvPr/>
        </p:nvCxnSpPr>
        <p:spPr>
          <a:xfrm>
            <a:off x="4041648" y="1161288"/>
            <a:ext cx="374904" cy="0"/>
          </a:xfrm>
          <a:prstGeom prst="line">
            <a:avLst/>
          </a:prstGeom>
          <a:ln w="2286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low_arrow"/>
          <p:cNvCxnSpPr/>
          <p:nvPr/>
        </p:nvCxnSpPr>
        <p:spPr>
          <a:xfrm>
            <a:off x="6062472" y="1161288"/>
            <a:ext cx="365760" cy="0"/>
          </a:xfrm>
          <a:prstGeom prst="line">
            <a:avLst/>
          </a:prstGeom>
          <a:ln w="2286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_arrow"/>
          <p:cNvCxnSpPr/>
          <p:nvPr/>
        </p:nvCxnSpPr>
        <p:spPr>
          <a:xfrm>
            <a:off x="8183879" y="1161288"/>
            <a:ext cx="365761" cy="0"/>
          </a:xfrm>
          <a:prstGeom prst="line">
            <a:avLst/>
          </a:prstGeom>
          <a:ln w="2286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lain_line"/>
          <p:cNvCxnSpPr/>
          <p:nvPr/>
        </p:nvCxnSpPr>
        <p:spPr>
          <a:xfrm>
            <a:off x="4224528" y="640080"/>
            <a:ext cx="0" cy="1234439"/>
          </a:xfrm>
          <a:prstGeom prst="line">
            <a:avLst/>
          </a:prstGeom>
          <a:ln w="12700">
            <a:solidFill>
              <a:srgbClr val="B44C45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15968" y="1664208"/>
            <a:ext cx="1188720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750" b="0">
                <a:solidFill>
                  <a:srgbClr val="B44C45"/>
                </a:solidFill>
                <a:latin typeface="Arial"/>
              </a:rPr>
              <a:t>semantic boundary</a:t>
            </a:r>
          </a:p>
        </p:txBody>
      </p:sp>
      <p:sp>
        <p:nvSpPr>
          <p:cNvPr id="17" name="Freeform 16"/>
          <p:cNvSpPr/>
          <p:nvPr/>
        </p:nvSpPr>
        <p:spPr>
          <a:xfrm>
            <a:off x="658368" y="685800"/>
            <a:ext cx="1645920" cy="118872"/>
          </a:xfrm>
          <a:custGeom>
            <a:avLst/>
            <a:gdLst/>
            <a:ahLst/>
            <a:cxnLst/>
            <a:rect l="l" t="t" r="r" b="b"/>
            <a:pathLst>
              <a:path w="1645920" h="118872">
                <a:moveTo>
                  <a:pt x="0" y="118872"/>
                </a:moveTo>
                <a:lnTo>
                  <a:pt x="1481328" y="118872"/>
                </a:lnTo>
                <a:lnTo>
                  <a:pt x="1645920" y="0"/>
                </a:lnTo>
                <a:lnTo>
                  <a:pt x="164591" y="0"/>
                </a:lnTo>
                <a:close/>
              </a:path>
            </a:pathLst>
          </a:custGeom>
          <a:solidFill>
            <a:srgbClr val="F6F8F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2139696" y="685800"/>
            <a:ext cx="164592" cy="813816"/>
          </a:xfrm>
          <a:custGeom>
            <a:avLst/>
            <a:gdLst/>
            <a:ahLst/>
            <a:cxnLst/>
            <a:rect l="l" t="t" r="r" b="b"/>
            <a:pathLst>
              <a:path w="164592" h="813816">
                <a:moveTo>
                  <a:pt x="0" y="118872"/>
                </a:moveTo>
                <a:lnTo>
                  <a:pt x="164592" y="0"/>
                </a:lnTo>
                <a:lnTo>
                  <a:pt x="164592" y="694944"/>
                </a:lnTo>
                <a:lnTo>
                  <a:pt x="0" y="813816"/>
                </a:lnTo>
                <a:close/>
              </a:path>
            </a:pathLst>
          </a:custGeom>
          <a:solidFill>
            <a:srgbClr val="D5DD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804672"/>
            <a:ext cx="1481328" cy="694944"/>
          </a:xfrm>
          <a:prstGeom prst="roundRect">
            <a:avLst>
              <a:gd name="adj" fmla="val 8000"/>
            </a:avLst>
          </a:prstGeom>
          <a:solidFill>
            <a:srgbClr val="ECF0F4"/>
          </a:solidFill>
          <a:ln w="139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804672"/>
            <a:ext cx="45720" cy="694944"/>
          </a:xfrm>
          <a:prstGeom prst="rect">
            <a:avLst/>
          </a:prstGeom>
          <a:solidFill>
            <a:srgbClr val="374756"/>
          </a:solidFill>
          <a:ln w="12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" y="896112"/>
            <a:ext cx="1335024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Source snapshot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1161288"/>
            <a:ext cx="1261872" cy="2743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private identifiers
and dispatch state</a:t>
            </a:r>
          </a:p>
        </p:txBody>
      </p:sp>
      <p:sp>
        <p:nvSpPr>
          <p:cNvPr id="23" name="Freeform 22"/>
          <p:cNvSpPr/>
          <p:nvPr/>
        </p:nvSpPr>
        <p:spPr>
          <a:xfrm>
            <a:off x="2487168" y="685800"/>
            <a:ext cx="1755648" cy="118872"/>
          </a:xfrm>
          <a:custGeom>
            <a:avLst/>
            <a:gdLst/>
            <a:ahLst/>
            <a:cxnLst/>
            <a:rect l="l" t="t" r="r" b="b"/>
            <a:pathLst>
              <a:path w="1755648" h="118872">
                <a:moveTo>
                  <a:pt x="0" y="118872"/>
                </a:moveTo>
                <a:lnTo>
                  <a:pt x="1591056" y="118872"/>
                </a:lnTo>
                <a:lnTo>
                  <a:pt x="1755648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CF4F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078224" y="685800"/>
            <a:ext cx="164592" cy="813816"/>
          </a:xfrm>
          <a:custGeom>
            <a:avLst/>
            <a:gdLst/>
            <a:ahLst/>
            <a:cxnLst/>
            <a:rect l="l" t="t" r="r" b="b"/>
            <a:pathLst>
              <a:path w="164592" h="813816">
                <a:moveTo>
                  <a:pt x="0" y="118872"/>
                </a:moveTo>
                <a:lnTo>
                  <a:pt x="164592" y="0"/>
                </a:lnTo>
                <a:lnTo>
                  <a:pt x="164592" y="694944"/>
                </a:lnTo>
                <a:lnTo>
                  <a:pt x="0" y="813816"/>
                </a:lnTo>
                <a:close/>
              </a:path>
            </a:pathLst>
          </a:custGeom>
          <a:solidFill>
            <a:srgbClr val="C4D7E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487168" y="804672"/>
            <a:ext cx="1591056" cy="694944"/>
          </a:xfrm>
          <a:prstGeom prst="roundRect">
            <a:avLst>
              <a:gd name="adj" fmla="val 8000"/>
            </a:avLst>
          </a:prstGeom>
          <a:solidFill>
            <a:srgbClr val="DEEBF9"/>
          </a:solidFill>
          <a:ln w="139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7168" y="804672"/>
            <a:ext cx="45720" cy="694944"/>
          </a:xfrm>
          <a:prstGeom prst="rect">
            <a:avLst/>
          </a:prstGeom>
          <a:solidFill>
            <a:srgbClr val="4877B0"/>
          </a:solidFill>
          <a:ln w="12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0" y="896112"/>
            <a:ext cx="1444752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Converter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1161288"/>
            <a:ext cx="1371600" cy="2743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renaming, remapping,
and field normalization</a:t>
            </a:r>
          </a:p>
        </p:txBody>
      </p:sp>
      <p:sp>
        <p:nvSpPr>
          <p:cNvPr id="29" name="Freeform 28"/>
          <p:cNvSpPr/>
          <p:nvPr/>
        </p:nvSpPr>
        <p:spPr>
          <a:xfrm>
            <a:off x="4498848" y="685800"/>
            <a:ext cx="1755648" cy="118872"/>
          </a:xfrm>
          <a:custGeom>
            <a:avLst/>
            <a:gdLst/>
            <a:ahLst/>
            <a:cxnLst/>
            <a:rect l="l" t="t" r="r" b="b"/>
            <a:pathLst>
              <a:path w="1755648" h="118872">
                <a:moveTo>
                  <a:pt x="0" y="118872"/>
                </a:moveTo>
                <a:lnTo>
                  <a:pt x="1591056" y="118872"/>
                </a:lnTo>
                <a:lnTo>
                  <a:pt x="1755648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DF9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6089904" y="685800"/>
            <a:ext cx="164592" cy="813816"/>
          </a:xfrm>
          <a:custGeom>
            <a:avLst/>
            <a:gdLst/>
            <a:ahLst/>
            <a:cxnLst/>
            <a:rect l="l" t="t" r="r" b="b"/>
            <a:pathLst>
              <a:path w="164592" h="813816">
                <a:moveTo>
                  <a:pt x="0" y="118872"/>
                </a:moveTo>
                <a:lnTo>
                  <a:pt x="164592" y="0"/>
                </a:lnTo>
                <a:lnTo>
                  <a:pt x="164592" y="694944"/>
                </a:lnTo>
                <a:lnTo>
                  <a:pt x="0" y="813816"/>
                </a:lnTo>
                <a:close/>
              </a:path>
            </a:pathLst>
          </a:custGeom>
          <a:solidFill>
            <a:srgbClr val="BEDFD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98848" y="804672"/>
            <a:ext cx="1591056" cy="694944"/>
          </a:xfrm>
          <a:prstGeom prst="roundRect">
            <a:avLst>
              <a:gd name="adj" fmla="val 8000"/>
            </a:avLst>
          </a:prstGeom>
          <a:solidFill>
            <a:srgbClr val="E0F2EE"/>
          </a:solidFill>
          <a:ln w="13970">
            <a:solidFill>
              <a:srgbClr val="38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98848" y="804672"/>
            <a:ext cx="45720" cy="694944"/>
          </a:xfrm>
          <a:prstGeom prst="rect">
            <a:avLst/>
          </a:prstGeom>
          <a:solidFill>
            <a:srgbClr val="388E80"/>
          </a:solidFill>
          <a:ln w="1270">
            <a:solidFill>
              <a:srgbClr val="38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896112"/>
            <a:ext cx="1444752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Transformed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1161288"/>
            <a:ext cx="1371600" cy="2743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parseable case with
obfuscated labels</a:t>
            </a:r>
          </a:p>
        </p:txBody>
      </p:sp>
      <p:sp>
        <p:nvSpPr>
          <p:cNvPr id="35" name="Freeform 34"/>
          <p:cNvSpPr/>
          <p:nvPr/>
        </p:nvSpPr>
        <p:spPr>
          <a:xfrm>
            <a:off x="6473952" y="685800"/>
            <a:ext cx="1901952" cy="118872"/>
          </a:xfrm>
          <a:custGeom>
            <a:avLst/>
            <a:gdLst/>
            <a:ahLst/>
            <a:cxnLst/>
            <a:rect l="l" t="t" r="r" b="b"/>
            <a:pathLst>
              <a:path w="1901952" h="118872">
                <a:moveTo>
                  <a:pt x="0" y="118872"/>
                </a:moveTo>
                <a:lnTo>
                  <a:pt x="1737360" y="118872"/>
                </a:lnTo>
                <a:lnTo>
                  <a:pt x="190195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CF3E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8211312" y="685800"/>
            <a:ext cx="164592" cy="813816"/>
          </a:xfrm>
          <a:custGeom>
            <a:avLst/>
            <a:gdLst/>
            <a:ahLst/>
            <a:cxnLst/>
            <a:rect l="l" t="t" r="r" b="b"/>
            <a:pathLst>
              <a:path w="164592" h="813816">
                <a:moveTo>
                  <a:pt x="0" y="118872"/>
                </a:moveTo>
                <a:lnTo>
                  <a:pt x="164592" y="0"/>
                </a:lnTo>
                <a:lnTo>
                  <a:pt x="164592" y="694944"/>
                </a:lnTo>
                <a:lnTo>
                  <a:pt x="0" y="813816"/>
                </a:lnTo>
                <a:close/>
              </a:path>
            </a:pathLst>
          </a:custGeom>
          <a:solidFill>
            <a:srgbClr val="E8CD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73952" y="804672"/>
            <a:ext cx="1737360" cy="694944"/>
          </a:xfrm>
          <a:prstGeom prst="roundRect">
            <a:avLst>
              <a:gd name="adj" fmla="val 8000"/>
            </a:avLst>
          </a:prstGeom>
          <a:solidFill>
            <a:srgbClr val="F8EBD8"/>
          </a:solidFill>
          <a:ln w="13970">
            <a:solidFill>
              <a:srgbClr val="D2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73952" y="804672"/>
            <a:ext cx="45720" cy="694944"/>
          </a:xfrm>
          <a:prstGeom prst="rect">
            <a:avLst/>
          </a:prstGeom>
          <a:solidFill>
            <a:srgbClr val="D2852A"/>
          </a:solidFill>
          <a:ln w="1270">
            <a:solidFill>
              <a:srgbClr val="D2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7104" y="896112"/>
            <a:ext cx="15910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Power-system study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161288"/>
            <a:ext cx="1517904" cy="2743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OPF, contingency,
and stability checks</a:t>
            </a:r>
          </a:p>
        </p:txBody>
      </p:sp>
      <p:sp>
        <p:nvSpPr>
          <p:cNvPr id="41" name="Freeform 40"/>
          <p:cNvSpPr/>
          <p:nvPr/>
        </p:nvSpPr>
        <p:spPr>
          <a:xfrm>
            <a:off x="8613648" y="685800"/>
            <a:ext cx="1737360" cy="118872"/>
          </a:xfrm>
          <a:custGeom>
            <a:avLst/>
            <a:gdLst/>
            <a:ahLst/>
            <a:cxnLst/>
            <a:rect l="l" t="t" r="r" b="b"/>
            <a:pathLst>
              <a:path w="1737360" h="118872">
                <a:moveTo>
                  <a:pt x="0" y="118872"/>
                </a:moveTo>
                <a:lnTo>
                  <a:pt x="1572768" y="118872"/>
                </a:lnTo>
                <a:lnTo>
                  <a:pt x="1737360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EF9F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10186416" y="685800"/>
            <a:ext cx="164592" cy="813816"/>
          </a:xfrm>
          <a:custGeom>
            <a:avLst/>
            <a:gdLst/>
            <a:ahLst/>
            <a:cxnLst/>
            <a:rect l="l" t="t" r="r" b="b"/>
            <a:pathLst>
              <a:path w="164592" h="813816">
                <a:moveTo>
                  <a:pt x="0" y="118872"/>
                </a:moveTo>
                <a:lnTo>
                  <a:pt x="164592" y="0"/>
                </a:lnTo>
                <a:lnTo>
                  <a:pt x="164592" y="694944"/>
                </a:lnTo>
                <a:lnTo>
                  <a:pt x="0" y="813816"/>
                </a:lnTo>
                <a:close/>
              </a:path>
            </a:pathLst>
          </a:custGeom>
          <a:solidFill>
            <a:srgbClr val="C5E2C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613648" y="804672"/>
            <a:ext cx="1572768" cy="694944"/>
          </a:xfrm>
          <a:prstGeom prst="roundRect">
            <a:avLst>
              <a:gd name="adj" fmla="val 8000"/>
            </a:avLst>
          </a:prstGeom>
          <a:solidFill>
            <a:srgbClr val="E2F2E6"/>
          </a:solidFill>
          <a:ln w="139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613648" y="804672"/>
            <a:ext cx="45720" cy="694944"/>
          </a:xfrm>
          <a:prstGeom prst="rect">
            <a:avLst/>
          </a:prstGeom>
          <a:solidFill>
            <a:srgbClr val="49915C"/>
          </a:solidFill>
          <a:ln w="12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896112"/>
            <a:ext cx="1426464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Numerical answer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1161288"/>
            <a:ext cx="1353312" cy="2743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result accepted only
with a valid certificate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29768"/>
            <a:ext cx="1965960" cy="192024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0">
                <a:solidFill>
                  <a:srgbClr val="5C6874"/>
                </a:solidFill>
                <a:latin typeface="Arial"/>
              </a:rPr>
              <a:t>untrusted computation path</a:t>
            </a:r>
          </a:p>
        </p:txBody>
      </p:sp>
      <p:cxnSp>
        <p:nvCxnSpPr>
          <p:cNvPr id="48" name="flow_arrow"/>
          <p:cNvCxnSpPr/>
          <p:nvPr/>
        </p:nvCxnSpPr>
        <p:spPr>
          <a:xfrm>
            <a:off x="6812280" y="576072"/>
            <a:ext cx="1261872" cy="0"/>
          </a:xfrm>
          <a:prstGeom prst="line">
            <a:avLst/>
          </a:prstGeom>
          <a:ln w="10160">
            <a:solidFill>
              <a:srgbClr val="5C6874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49640" y="429768"/>
            <a:ext cx="2057400" cy="192024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0">
                <a:solidFill>
                  <a:srgbClr val="B44C45"/>
                </a:solidFill>
                <a:latin typeface="Arial"/>
              </a:rPr>
              <a:t>answer is not accepted by itself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" y="1719072"/>
            <a:ext cx="9189720" cy="2560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143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0704" y="1755648"/>
            <a:ext cx="2103120" cy="146304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780" b="1">
                <a:solidFill>
                  <a:srgbClr val="2B558A"/>
                </a:solidFill>
                <a:latin typeface="Arial"/>
              </a:rPr>
              <a:t>machine-checkable certificate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1755648"/>
            <a:ext cx="6995160" cy="146304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750" b="0">
                <a:solidFill>
                  <a:srgbClr val="5C6874"/>
                </a:solidFill>
                <a:latin typeface="Arial"/>
              </a:rPr>
              <a:t>structural correspondence + domain equations + residual checks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2770632"/>
            <a:ext cx="1865376" cy="804672"/>
          </a:xfrm>
          <a:prstGeom prst="roundRect">
            <a:avLst>
              <a:gd name="adj" fmla="val 7000"/>
            </a:avLst>
          </a:prstGeom>
          <a:solidFill>
            <a:srgbClr val="DEEBF9"/>
          </a:solidFill>
          <a:ln w="1270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" y="2843784"/>
            <a:ext cx="1719072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69" b="1">
                <a:solidFill>
                  <a:srgbClr val="4877B0"/>
                </a:solidFill>
                <a:latin typeface="Arial"/>
              </a:rPr>
              <a:t>O1 Structure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3044951"/>
            <a:ext cx="1682496" cy="45720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30" b="0">
                <a:solidFill>
                  <a:srgbClr val="1F2730"/>
                </a:solidFill>
                <a:latin typeface="Arial"/>
              </a:rPr>
              <a:t>bus, branch, generator
and time-index maps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63240" y="2770632"/>
            <a:ext cx="1865376" cy="804672"/>
          </a:xfrm>
          <a:prstGeom prst="roundRect">
            <a:avLst>
              <a:gd name="adj" fmla="val 7000"/>
            </a:avLst>
          </a:prstGeom>
          <a:solidFill>
            <a:srgbClr val="EBE7F7"/>
          </a:solidFill>
          <a:ln w="12700">
            <a:solidFill>
              <a:srgbClr val="6F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36392" y="2843784"/>
            <a:ext cx="1719072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69" b="1">
                <a:solidFill>
                  <a:srgbClr val="6F60A6"/>
                </a:solidFill>
                <a:latin typeface="Arial"/>
              </a:rPr>
              <a:t>O2 Privacy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54680" y="3044951"/>
            <a:ext cx="1682496" cy="45720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30" b="0">
                <a:solidFill>
                  <a:srgbClr val="1F2730"/>
                </a:solidFill>
                <a:latin typeface="Arial"/>
              </a:rPr>
              <a:t>identity-free labels;
no raw topology release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2080" y="2770632"/>
            <a:ext cx="1865376" cy="804672"/>
          </a:xfrm>
          <a:prstGeom prst="roundRect">
            <a:avLst>
              <a:gd name="adj" fmla="val 7000"/>
            </a:avLst>
          </a:prstGeom>
          <a:solidFill>
            <a:srgbClr val="E0F2EE"/>
          </a:solidFill>
          <a:ln w="12700">
            <a:solidFill>
              <a:srgbClr val="38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85232" y="2843784"/>
            <a:ext cx="1719072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69" b="1">
                <a:solidFill>
                  <a:srgbClr val="388E80"/>
                </a:solidFill>
                <a:latin typeface="Arial"/>
              </a:rPr>
              <a:t>O3 Physics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3044951"/>
            <a:ext cx="1682496" cy="45720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30" b="0">
                <a:solidFill>
                  <a:srgbClr val="1F2730"/>
                </a:solidFill>
                <a:latin typeface="Arial"/>
              </a:rPr>
              <a:t>network balance, limits,
and case consistency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60920" y="2770632"/>
            <a:ext cx="1865376" cy="804672"/>
          </a:xfrm>
          <a:prstGeom prst="roundRect">
            <a:avLst>
              <a:gd name="adj" fmla="val 7000"/>
            </a:avLst>
          </a:prstGeom>
          <a:solidFill>
            <a:srgbClr val="F8EBD8"/>
          </a:solidFill>
          <a:ln w="12700">
            <a:solidFill>
              <a:srgbClr val="D2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34072" y="2843784"/>
            <a:ext cx="1719072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69" b="1">
                <a:solidFill>
                  <a:srgbClr val="D2852A"/>
                </a:solidFill>
                <a:latin typeface="Arial"/>
              </a:rPr>
              <a:t>O4 Task result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60" y="3044951"/>
            <a:ext cx="1682496" cy="45720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30" b="0">
                <a:solidFill>
                  <a:srgbClr val="1F2730"/>
                </a:solidFill>
                <a:latin typeface="Arial"/>
              </a:rPr>
              <a:t>study residuals and
acceptance tolerances</a:t>
            </a:r>
          </a:p>
        </p:txBody>
      </p:sp>
      <p:cxnSp>
        <p:nvCxnSpPr>
          <p:cNvPr id="65" name="plain_line"/>
          <p:cNvCxnSpPr/>
          <p:nvPr/>
        </p:nvCxnSpPr>
        <p:spPr>
          <a:xfrm>
            <a:off x="1051560" y="3767328"/>
            <a:ext cx="8037576" cy="0"/>
          </a:xfrm>
          <a:prstGeom prst="line">
            <a:avLst/>
          </a:prstGeom>
          <a:ln w="11430">
            <a:solidFill>
              <a:srgbClr val="5C6874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plain_line"/>
          <p:cNvCxnSpPr/>
          <p:nvPr/>
        </p:nvCxnSpPr>
        <p:spPr>
          <a:xfrm>
            <a:off x="1051560" y="3685032"/>
            <a:ext cx="0" cy="164592"/>
          </a:xfrm>
          <a:prstGeom prst="line">
            <a:avLst/>
          </a:prstGeom>
          <a:ln w="11430">
            <a:solidFill>
              <a:srgbClr val="5C6874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lain_line"/>
          <p:cNvCxnSpPr/>
          <p:nvPr/>
        </p:nvCxnSpPr>
        <p:spPr>
          <a:xfrm>
            <a:off x="9089136" y="3685032"/>
            <a:ext cx="0" cy="164592"/>
          </a:xfrm>
          <a:prstGeom prst="line">
            <a:avLst/>
          </a:prstGeom>
          <a:ln w="11430">
            <a:solidFill>
              <a:srgbClr val="5C6874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767328" y="3831336"/>
            <a:ext cx="260604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0">
                <a:solidFill>
                  <a:srgbClr val="5C6874"/>
                </a:solidFill>
                <a:latin typeface="Arial"/>
              </a:rPr>
              <a:t>claims checked before the solver is trusted</a:t>
            </a:r>
          </a:p>
        </p:txBody>
      </p:sp>
      <p:cxnSp>
        <p:nvCxnSpPr>
          <p:cNvPr id="69" name="flow_arrow"/>
          <p:cNvCxnSpPr/>
          <p:nvPr/>
        </p:nvCxnSpPr>
        <p:spPr>
          <a:xfrm>
            <a:off x="2011680" y="5495544"/>
            <a:ext cx="804672" cy="0"/>
          </a:xfrm>
          <a:prstGeom prst="line">
            <a:avLst/>
          </a:prstGeom>
          <a:ln w="1905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flow_arrow"/>
          <p:cNvCxnSpPr/>
          <p:nvPr/>
        </p:nvCxnSpPr>
        <p:spPr>
          <a:xfrm>
            <a:off x="4187952" y="5495544"/>
            <a:ext cx="768096" cy="0"/>
          </a:xfrm>
          <a:prstGeom prst="line">
            <a:avLst/>
          </a:prstGeom>
          <a:ln w="1905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flow_arrow"/>
          <p:cNvCxnSpPr/>
          <p:nvPr/>
        </p:nvCxnSpPr>
        <p:spPr>
          <a:xfrm>
            <a:off x="6327648" y="5495544"/>
            <a:ext cx="749808" cy="0"/>
          </a:xfrm>
          <a:prstGeom prst="line">
            <a:avLst/>
          </a:prstGeom>
          <a:ln w="1905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flow_arrow"/>
          <p:cNvCxnSpPr/>
          <p:nvPr/>
        </p:nvCxnSpPr>
        <p:spPr>
          <a:xfrm flipV="1">
            <a:off x="8156448" y="5010912"/>
            <a:ext cx="548640" cy="310896"/>
          </a:xfrm>
          <a:prstGeom prst="line">
            <a:avLst/>
          </a:prstGeom>
          <a:ln w="19050">
            <a:solidFill>
              <a:srgbClr val="49915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flow_arrow"/>
          <p:cNvCxnSpPr/>
          <p:nvPr/>
        </p:nvCxnSpPr>
        <p:spPr>
          <a:xfrm>
            <a:off x="8156448" y="5660136"/>
            <a:ext cx="548640" cy="320040"/>
          </a:xfrm>
          <a:prstGeom prst="line">
            <a:avLst/>
          </a:prstGeom>
          <a:ln w="19050">
            <a:solidFill>
              <a:srgbClr val="B44C45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flow_arrow"/>
          <p:cNvCxnSpPr/>
          <p:nvPr/>
        </p:nvCxnSpPr>
        <p:spPr>
          <a:xfrm>
            <a:off x="1920240" y="3730752"/>
            <a:ext cx="2944368" cy="1271016"/>
          </a:xfrm>
          <a:prstGeom prst="line">
            <a:avLst/>
          </a:prstGeom>
          <a:ln w="11430">
            <a:solidFill>
              <a:srgbClr val="4877B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flow_arrow"/>
          <p:cNvCxnSpPr/>
          <p:nvPr/>
        </p:nvCxnSpPr>
        <p:spPr>
          <a:xfrm flipH="1">
            <a:off x="5413248" y="3730752"/>
            <a:ext cx="731520" cy="1271016"/>
          </a:xfrm>
          <a:prstGeom prst="line">
            <a:avLst/>
          </a:prstGeom>
          <a:ln w="11430">
            <a:solidFill>
              <a:srgbClr val="4877B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flow_arrow"/>
          <p:cNvCxnSpPr/>
          <p:nvPr/>
        </p:nvCxnSpPr>
        <p:spPr>
          <a:xfrm flipH="1">
            <a:off x="5989320" y="3730752"/>
            <a:ext cx="2221992" cy="1271016"/>
          </a:xfrm>
          <a:prstGeom prst="line">
            <a:avLst/>
          </a:prstGeom>
          <a:ln w="11430">
            <a:solidFill>
              <a:srgbClr val="4877B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713232" y="5020056"/>
            <a:ext cx="1536192" cy="118872"/>
          </a:xfrm>
          <a:custGeom>
            <a:avLst/>
            <a:gdLst/>
            <a:ahLst/>
            <a:cxnLst/>
            <a:rect l="l" t="t" r="r" b="b"/>
            <a:pathLst>
              <a:path w="1536192" h="118872">
                <a:moveTo>
                  <a:pt x="0" y="118872"/>
                </a:moveTo>
                <a:lnTo>
                  <a:pt x="1371600" y="118872"/>
                </a:lnTo>
                <a:lnTo>
                  <a:pt x="153619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7F9F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reeform 77"/>
          <p:cNvSpPr/>
          <p:nvPr/>
        </p:nvSpPr>
        <p:spPr>
          <a:xfrm>
            <a:off x="2084832" y="5020056"/>
            <a:ext cx="164592" cy="722376"/>
          </a:xfrm>
          <a:custGeom>
            <a:avLst/>
            <a:gdLst/>
            <a:ahLst/>
            <a:cxnLst/>
            <a:rect l="l" t="t" r="r" b="b"/>
            <a:pathLst>
              <a:path w="164592" h="722376">
                <a:moveTo>
                  <a:pt x="0" y="118872"/>
                </a:moveTo>
                <a:lnTo>
                  <a:pt x="164592" y="0"/>
                </a:lnTo>
                <a:lnTo>
                  <a:pt x="164592" y="603504"/>
                </a:lnTo>
                <a:lnTo>
                  <a:pt x="0" y="722376"/>
                </a:lnTo>
                <a:close/>
              </a:path>
            </a:pathLst>
          </a:custGeom>
          <a:solidFill>
            <a:srgbClr val="D7DEE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13232" y="5138928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ECF0F4"/>
          </a:solidFill>
          <a:ln w="139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13232" y="5138928"/>
            <a:ext cx="45720" cy="603504"/>
          </a:xfrm>
          <a:prstGeom prst="rect">
            <a:avLst/>
          </a:prstGeom>
          <a:solidFill>
            <a:srgbClr val="374756"/>
          </a:solidFill>
          <a:ln w="12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86384" y="5230368"/>
            <a:ext cx="122529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Target case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5495544"/>
            <a:ext cx="1152144" cy="18288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not trusted
by default</a:t>
            </a:r>
          </a:p>
        </p:txBody>
      </p:sp>
      <p:sp>
        <p:nvSpPr>
          <p:cNvPr id="83" name="Freeform 82"/>
          <p:cNvSpPr/>
          <p:nvPr/>
        </p:nvSpPr>
        <p:spPr>
          <a:xfrm>
            <a:off x="2816352" y="5020056"/>
            <a:ext cx="1536192" cy="118872"/>
          </a:xfrm>
          <a:custGeom>
            <a:avLst/>
            <a:gdLst/>
            <a:ahLst/>
            <a:cxnLst/>
            <a:rect l="l" t="t" r="r" b="b"/>
            <a:pathLst>
              <a:path w="1536192" h="118872">
                <a:moveTo>
                  <a:pt x="0" y="118872"/>
                </a:moveTo>
                <a:lnTo>
                  <a:pt x="1371600" y="118872"/>
                </a:lnTo>
                <a:lnTo>
                  <a:pt x="153619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EF6F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Freeform 83"/>
          <p:cNvSpPr/>
          <p:nvPr/>
        </p:nvSpPr>
        <p:spPr>
          <a:xfrm>
            <a:off x="4187952" y="5020056"/>
            <a:ext cx="164592" cy="722376"/>
          </a:xfrm>
          <a:custGeom>
            <a:avLst/>
            <a:gdLst/>
            <a:ahLst/>
            <a:cxnLst/>
            <a:rect l="l" t="t" r="r" b="b"/>
            <a:pathLst>
              <a:path w="164592" h="722376">
                <a:moveTo>
                  <a:pt x="0" y="118872"/>
                </a:moveTo>
                <a:lnTo>
                  <a:pt x="164592" y="0"/>
                </a:lnTo>
                <a:lnTo>
                  <a:pt x="164592" y="603504"/>
                </a:lnTo>
                <a:lnTo>
                  <a:pt x="0" y="722376"/>
                </a:lnTo>
                <a:close/>
              </a:path>
            </a:pathLst>
          </a:custGeom>
          <a:solidFill>
            <a:srgbClr val="C5D8E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816352" y="5138928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DEEBF9"/>
          </a:solidFill>
          <a:ln w="139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816352" y="5138928"/>
            <a:ext cx="45720" cy="603504"/>
          </a:xfrm>
          <a:prstGeom prst="rect">
            <a:avLst/>
          </a:prstGeom>
          <a:solidFill>
            <a:srgbClr val="4877B0"/>
          </a:solidFill>
          <a:ln w="12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889504" y="5230368"/>
            <a:ext cx="122529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Certificate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26080" y="5495544"/>
            <a:ext cx="1152144" cy="18288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proof object
from converter</a:t>
            </a:r>
          </a:p>
        </p:txBody>
      </p:sp>
      <p:sp>
        <p:nvSpPr>
          <p:cNvPr id="89" name="Freeform 88"/>
          <p:cNvSpPr/>
          <p:nvPr/>
        </p:nvSpPr>
        <p:spPr>
          <a:xfrm>
            <a:off x="4956048" y="4928616"/>
            <a:ext cx="1554479" cy="118872"/>
          </a:xfrm>
          <a:custGeom>
            <a:avLst/>
            <a:gdLst/>
            <a:ahLst/>
            <a:cxnLst/>
            <a:rect l="l" t="t" r="r" b="b"/>
            <a:pathLst>
              <a:path w="1554479" h="118872">
                <a:moveTo>
                  <a:pt x="0" y="118872"/>
                </a:moveTo>
                <a:lnTo>
                  <a:pt x="1389888" y="118872"/>
                </a:lnTo>
                <a:lnTo>
                  <a:pt x="1554479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2EFF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Freeform 89"/>
          <p:cNvSpPr/>
          <p:nvPr/>
        </p:nvSpPr>
        <p:spPr>
          <a:xfrm>
            <a:off x="6345936" y="4928616"/>
            <a:ext cx="164591" cy="905256"/>
          </a:xfrm>
          <a:custGeom>
            <a:avLst/>
            <a:gdLst/>
            <a:ahLst/>
            <a:cxnLst/>
            <a:rect l="l" t="t" r="r" b="b"/>
            <a:pathLst>
              <a:path w="164591" h="905256">
                <a:moveTo>
                  <a:pt x="0" y="118872"/>
                </a:moveTo>
                <a:lnTo>
                  <a:pt x="164591" y="0"/>
                </a:lnTo>
                <a:lnTo>
                  <a:pt x="164591" y="786384"/>
                </a:lnTo>
                <a:lnTo>
                  <a:pt x="0" y="905256"/>
                </a:lnTo>
                <a:close/>
              </a:path>
            </a:pathLst>
          </a:custGeom>
          <a:solidFill>
            <a:srgbClr val="CFC7E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956048" y="5047488"/>
            <a:ext cx="1389888" cy="786384"/>
          </a:xfrm>
          <a:prstGeom prst="roundRect">
            <a:avLst>
              <a:gd name="adj" fmla="val 8000"/>
            </a:avLst>
          </a:prstGeom>
          <a:solidFill>
            <a:srgbClr val="EBE7F7"/>
          </a:solidFill>
          <a:ln w="13970">
            <a:solidFill>
              <a:srgbClr val="6F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956048" y="5047488"/>
            <a:ext cx="45720" cy="786384"/>
          </a:xfrm>
          <a:prstGeom prst="rect">
            <a:avLst/>
          </a:prstGeom>
          <a:solidFill>
            <a:srgbClr val="6F60A6"/>
          </a:solidFill>
          <a:ln w="1270">
            <a:solidFill>
              <a:srgbClr val="6F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029200" y="5138927"/>
            <a:ext cx="1243584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PCC verifier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65776" y="5404103"/>
            <a:ext cx="1170432" cy="365759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small trusted
checking kernel</a:t>
            </a:r>
          </a:p>
        </p:txBody>
      </p:sp>
      <p:sp>
        <p:nvSpPr>
          <p:cNvPr id="95" name="Diamond 94"/>
          <p:cNvSpPr/>
          <p:nvPr/>
        </p:nvSpPr>
        <p:spPr>
          <a:xfrm>
            <a:off x="7114032" y="5111496"/>
            <a:ext cx="987552" cy="749808"/>
          </a:xfrm>
          <a:prstGeom prst="diamond">
            <a:avLst/>
          </a:prstGeom>
          <a:solidFill>
            <a:srgbClr val="FAFAFA"/>
          </a:solidFill>
          <a:ln w="12700">
            <a:solidFill>
              <a:srgbClr val="1F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223760" y="5303520"/>
            <a:ext cx="78638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950" b="1">
                <a:solidFill>
                  <a:srgbClr val="1F2730"/>
                </a:solidFill>
                <a:latin typeface="Arial"/>
              </a:rPr>
              <a:t>valid?</a:t>
            </a:r>
          </a:p>
        </p:txBody>
      </p:sp>
      <p:sp>
        <p:nvSpPr>
          <p:cNvPr id="97" name="Freeform 96"/>
          <p:cNvSpPr/>
          <p:nvPr/>
        </p:nvSpPr>
        <p:spPr>
          <a:xfrm>
            <a:off x="8796528" y="4599432"/>
            <a:ext cx="1490471" cy="118872"/>
          </a:xfrm>
          <a:custGeom>
            <a:avLst/>
            <a:gdLst/>
            <a:ahLst/>
            <a:cxnLst/>
            <a:rect l="l" t="t" r="r" b="b"/>
            <a:pathLst>
              <a:path w="1490471" h="118872">
                <a:moveTo>
                  <a:pt x="0" y="118872"/>
                </a:moveTo>
                <a:lnTo>
                  <a:pt x="1325879" y="118872"/>
                </a:lnTo>
                <a:lnTo>
                  <a:pt x="1490471" y="0"/>
                </a:lnTo>
                <a:lnTo>
                  <a:pt x="164591" y="0"/>
                </a:lnTo>
                <a:close/>
              </a:path>
            </a:pathLst>
          </a:custGeom>
          <a:solidFill>
            <a:srgbClr val="EFFAF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Freeform 97"/>
          <p:cNvSpPr/>
          <p:nvPr/>
        </p:nvSpPr>
        <p:spPr>
          <a:xfrm>
            <a:off x="10122407" y="4599432"/>
            <a:ext cx="164592" cy="667512"/>
          </a:xfrm>
          <a:custGeom>
            <a:avLst/>
            <a:gdLst/>
            <a:ahLst/>
            <a:cxnLst/>
            <a:rect l="l" t="t" r="r" b="b"/>
            <a:pathLst>
              <a:path w="164592" h="667512">
                <a:moveTo>
                  <a:pt x="0" y="118872"/>
                </a:moveTo>
                <a:lnTo>
                  <a:pt x="164592" y="0"/>
                </a:lnTo>
                <a:lnTo>
                  <a:pt x="164592" y="548640"/>
                </a:lnTo>
                <a:lnTo>
                  <a:pt x="0" y="667512"/>
                </a:lnTo>
                <a:close/>
              </a:path>
            </a:pathLst>
          </a:custGeom>
          <a:solidFill>
            <a:srgbClr val="C6E2C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8796528" y="4718304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E2F2E6"/>
          </a:solidFill>
          <a:ln w="139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796528" y="4718304"/>
            <a:ext cx="45720" cy="548640"/>
          </a:xfrm>
          <a:prstGeom prst="rect">
            <a:avLst/>
          </a:prstGeom>
          <a:solidFill>
            <a:srgbClr val="49915C"/>
          </a:solidFill>
          <a:ln w="12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869680" y="4809744"/>
            <a:ext cx="117957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release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06255" y="5074920"/>
            <a:ext cx="1106424" cy="128015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answer + receipt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8796528" y="5568696"/>
            <a:ext cx="1490471" cy="118872"/>
          </a:xfrm>
          <a:custGeom>
            <a:avLst/>
            <a:gdLst/>
            <a:ahLst/>
            <a:cxnLst/>
            <a:rect l="l" t="t" r="r" b="b"/>
            <a:pathLst>
              <a:path w="1490471" h="118872">
                <a:moveTo>
                  <a:pt x="0" y="118872"/>
                </a:moveTo>
                <a:lnTo>
                  <a:pt x="1325879" y="118872"/>
                </a:lnTo>
                <a:lnTo>
                  <a:pt x="1490471" y="0"/>
                </a:lnTo>
                <a:lnTo>
                  <a:pt x="164591" y="0"/>
                </a:lnTo>
                <a:close/>
              </a:path>
            </a:pathLst>
          </a:custGeom>
          <a:solidFill>
            <a:srgbClr val="FCEEE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eeform 103"/>
          <p:cNvSpPr/>
          <p:nvPr/>
        </p:nvSpPr>
        <p:spPr>
          <a:xfrm>
            <a:off x="10122407" y="5568696"/>
            <a:ext cx="164592" cy="667511"/>
          </a:xfrm>
          <a:custGeom>
            <a:avLst/>
            <a:gdLst/>
            <a:ahLst/>
            <a:cxnLst/>
            <a:rect l="l" t="t" r="r" b="b"/>
            <a:pathLst>
              <a:path w="164592" h="667511">
                <a:moveTo>
                  <a:pt x="0" y="118872"/>
                </a:moveTo>
                <a:lnTo>
                  <a:pt x="164592" y="0"/>
                </a:lnTo>
                <a:lnTo>
                  <a:pt x="164592" y="548640"/>
                </a:lnTo>
                <a:lnTo>
                  <a:pt x="0" y="667511"/>
                </a:lnTo>
                <a:close/>
              </a:path>
            </a:pathLst>
          </a:custGeom>
          <a:solidFill>
            <a:srgbClr val="E8BEB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796528" y="5687568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F7E2E0"/>
          </a:solidFill>
          <a:ln w="13970">
            <a:solidFill>
              <a:srgbClr val="B4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796528" y="5687568"/>
            <a:ext cx="45720" cy="548640"/>
          </a:xfrm>
          <a:prstGeom prst="rect">
            <a:avLst/>
          </a:prstGeom>
          <a:solidFill>
            <a:srgbClr val="B44C45"/>
          </a:solidFill>
          <a:ln w="1270">
            <a:solidFill>
              <a:srgbClr val="B4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869680" y="5779007"/>
            <a:ext cx="117957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reject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06255" y="6044183"/>
            <a:ext cx="1106424" cy="128015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error trace only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65592" y="4882896"/>
            <a:ext cx="493776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1">
                <a:solidFill>
                  <a:srgbClr val="49915C"/>
                </a:solidFill>
                <a:latin typeface="Arial"/>
              </a:rPr>
              <a:t>yes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65592" y="5925312"/>
            <a:ext cx="493776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1">
                <a:solidFill>
                  <a:srgbClr val="B44C45"/>
                </a:solidFill>
                <a:latin typeface="Arial"/>
              </a:rPr>
              <a:t>no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59568" y="5010912"/>
            <a:ext cx="1170432" cy="73152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20" b="0">
                <a:solidFill>
                  <a:srgbClr val="5C6874"/>
                </a:solidFill>
                <a:latin typeface="Arial"/>
              </a:rPr>
              <a:t>Trusted base
keeps the model
transformation auditable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6556248"/>
            <a:ext cx="7132320" cy="164592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700" b="0">
                <a:solidFill>
                  <a:srgbClr val="5C6874"/>
                </a:solidFill>
                <a:latin typeface="Arial"/>
              </a:rPr>
              <a:t>Fig. 1. Proof-carrying canonicalization links an obfuscated target case to verifiable study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320040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1800" b="1">
                <a:solidFill>
                  <a:srgbClr val="1F2730"/>
                </a:solidFill>
                <a:latin typeface="Arial"/>
              </a:rPr>
              <a:t>Editable 3D components for manual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7772400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l"/>
            <a:r>
              <a:rPr sz="950" b="0">
                <a:solidFill>
                  <a:srgbClr val="5C6874"/>
                </a:solidFill>
                <a:latin typeface="Arial"/>
              </a:rPr>
              <a:t>All elements are native PowerPoint shapes. Copy, recolor, or relabel as needed.</a:t>
            </a:r>
          </a:p>
        </p:txBody>
      </p:sp>
      <p:sp>
        <p:nvSpPr>
          <p:cNvPr id="5" name="Freeform 4"/>
          <p:cNvSpPr/>
          <p:nvPr/>
        </p:nvSpPr>
        <p:spPr>
          <a:xfrm>
            <a:off x="749808" y="1115568"/>
            <a:ext cx="1673352" cy="118872"/>
          </a:xfrm>
          <a:custGeom>
            <a:avLst/>
            <a:gdLst/>
            <a:ahLst/>
            <a:cxnLst/>
            <a:rect l="l" t="t" r="r" b="b"/>
            <a:pathLst>
              <a:path w="1673352" h="118872">
                <a:moveTo>
                  <a:pt x="0" y="118872"/>
                </a:moveTo>
                <a:lnTo>
                  <a:pt x="1508760" y="118872"/>
                </a:lnTo>
                <a:lnTo>
                  <a:pt x="167335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7F9F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2258568" y="1115568"/>
            <a:ext cx="164592" cy="740664"/>
          </a:xfrm>
          <a:custGeom>
            <a:avLst/>
            <a:gdLst/>
            <a:ahLst/>
            <a:cxnLst/>
            <a:rect l="l" t="t" r="r" b="b"/>
            <a:pathLst>
              <a:path w="164592" h="740664">
                <a:moveTo>
                  <a:pt x="0" y="118872"/>
                </a:moveTo>
                <a:lnTo>
                  <a:pt x="164592" y="0"/>
                </a:lnTo>
                <a:lnTo>
                  <a:pt x="164592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D7DEE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23444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ECF0F4"/>
          </a:solidFill>
          <a:ln w="139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234440"/>
            <a:ext cx="45720" cy="621792"/>
          </a:xfrm>
          <a:prstGeom prst="rect">
            <a:avLst/>
          </a:prstGeom>
          <a:solidFill>
            <a:srgbClr val="374756"/>
          </a:solidFill>
          <a:ln w="1270">
            <a:solidFill>
              <a:srgbClr val="374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2588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neutral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sp>
        <p:nvSpPr>
          <p:cNvPr id="11" name="Freeform 10"/>
          <p:cNvSpPr/>
          <p:nvPr/>
        </p:nvSpPr>
        <p:spPr>
          <a:xfrm>
            <a:off x="3767328" y="1115568"/>
            <a:ext cx="1673351" cy="118872"/>
          </a:xfrm>
          <a:custGeom>
            <a:avLst/>
            <a:gdLst/>
            <a:ahLst/>
            <a:cxnLst/>
            <a:rect l="l" t="t" r="r" b="b"/>
            <a:pathLst>
              <a:path w="1673351" h="118872">
                <a:moveTo>
                  <a:pt x="0" y="118872"/>
                </a:moveTo>
                <a:lnTo>
                  <a:pt x="1508760" y="118872"/>
                </a:lnTo>
                <a:lnTo>
                  <a:pt x="1673351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EF6F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5276088" y="1115568"/>
            <a:ext cx="164591" cy="740664"/>
          </a:xfrm>
          <a:custGeom>
            <a:avLst/>
            <a:gdLst/>
            <a:ahLst/>
            <a:cxnLst/>
            <a:rect l="l" t="t" r="r" b="b"/>
            <a:pathLst>
              <a:path w="164591" h="740664">
                <a:moveTo>
                  <a:pt x="0" y="118872"/>
                </a:moveTo>
                <a:lnTo>
                  <a:pt x="164591" y="0"/>
                </a:lnTo>
                <a:lnTo>
                  <a:pt x="164591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C5D8E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67328" y="123444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DEEBF9"/>
          </a:solidFill>
          <a:ln w="139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67328" y="1234440"/>
            <a:ext cx="45720" cy="621792"/>
          </a:xfrm>
          <a:prstGeom prst="rect">
            <a:avLst/>
          </a:prstGeom>
          <a:solidFill>
            <a:srgbClr val="4877B0"/>
          </a:solidFill>
          <a:ln w="1270">
            <a:solidFill>
              <a:srgbClr val="487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132588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evidence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159105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sp>
        <p:nvSpPr>
          <p:cNvPr id="17" name="Freeform 16"/>
          <p:cNvSpPr/>
          <p:nvPr/>
        </p:nvSpPr>
        <p:spPr>
          <a:xfrm>
            <a:off x="6784848" y="1115568"/>
            <a:ext cx="1673352" cy="118872"/>
          </a:xfrm>
          <a:custGeom>
            <a:avLst/>
            <a:gdLst/>
            <a:ahLst/>
            <a:cxnLst/>
            <a:rect l="l" t="t" r="r" b="b"/>
            <a:pathLst>
              <a:path w="1673352" h="118872">
                <a:moveTo>
                  <a:pt x="0" y="118872"/>
                </a:moveTo>
                <a:lnTo>
                  <a:pt x="1508760" y="118872"/>
                </a:lnTo>
                <a:lnTo>
                  <a:pt x="167335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DF9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8293608" y="1115568"/>
            <a:ext cx="164592" cy="740664"/>
          </a:xfrm>
          <a:custGeom>
            <a:avLst/>
            <a:gdLst/>
            <a:ahLst/>
            <a:cxnLst/>
            <a:rect l="l" t="t" r="r" b="b"/>
            <a:pathLst>
              <a:path w="164592" h="740664">
                <a:moveTo>
                  <a:pt x="0" y="118872"/>
                </a:moveTo>
                <a:lnTo>
                  <a:pt x="164592" y="0"/>
                </a:lnTo>
                <a:lnTo>
                  <a:pt x="164592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BEDFD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84848" y="123444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E0F2EE"/>
          </a:solidFill>
          <a:ln w="13970">
            <a:solidFill>
              <a:srgbClr val="38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84848" y="1234440"/>
            <a:ext cx="45720" cy="621792"/>
          </a:xfrm>
          <a:prstGeom prst="rect">
            <a:avLst/>
          </a:prstGeom>
          <a:solidFill>
            <a:srgbClr val="388E80"/>
          </a:solidFill>
          <a:ln w="1270">
            <a:solidFill>
              <a:srgbClr val="38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132588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constraint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59105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sp>
        <p:nvSpPr>
          <p:cNvPr id="23" name="Freeform 22"/>
          <p:cNvSpPr/>
          <p:nvPr/>
        </p:nvSpPr>
        <p:spPr>
          <a:xfrm>
            <a:off x="749808" y="2532888"/>
            <a:ext cx="1673352" cy="118872"/>
          </a:xfrm>
          <a:custGeom>
            <a:avLst/>
            <a:gdLst/>
            <a:ahLst/>
            <a:cxnLst/>
            <a:rect l="l" t="t" r="r" b="b"/>
            <a:pathLst>
              <a:path w="1673352" h="118872">
                <a:moveTo>
                  <a:pt x="0" y="118872"/>
                </a:moveTo>
                <a:lnTo>
                  <a:pt x="1508760" y="118872"/>
                </a:lnTo>
                <a:lnTo>
                  <a:pt x="167335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CF3E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2258568" y="2532888"/>
            <a:ext cx="164592" cy="740664"/>
          </a:xfrm>
          <a:custGeom>
            <a:avLst/>
            <a:gdLst/>
            <a:ahLst/>
            <a:cxnLst/>
            <a:rect l="l" t="t" r="r" b="b"/>
            <a:pathLst>
              <a:path w="164592" h="740664">
                <a:moveTo>
                  <a:pt x="0" y="118872"/>
                </a:moveTo>
                <a:lnTo>
                  <a:pt x="164592" y="0"/>
                </a:lnTo>
                <a:lnTo>
                  <a:pt x="164592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E8CD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808" y="265176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F8EBD8"/>
          </a:solidFill>
          <a:ln w="13970">
            <a:solidFill>
              <a:srgbClr val="D2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2651760"/>
            <a:ext cx="45720" cy="621792"/>
          </a:xfrm>
          <a:prstGeom prst="rect">
            <a:avLst/>
          </a:prstGeom>
          <a:solidFill>
            <a:srgbClr val="D2852A"/>
          </a:solidFill>
          <a:ln w="1270">
            <a:solidFill>
              <a:srgbClr val="D28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274320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decision 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00837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sp>
        <p:nvSpPr>
          <p:cNvPr id="29" name="Freeform 28"/>
          <p:cNvSpPr/>
          <p:nvPr/>
        </p:nvSpPr>
        <p:spPr>
          <a:xfrm>
            <a:off x="3767328" y="2532888"/>
            <a:ext cx="1673351" cy="118872"/>
          </a:xfrm>
          <a:custGeom>
            <a:avLst/>
            <a:gdLst/>
            <a:ahLst/>
            <a:cxnLst/>
            <a:rect l="l" t="t" r="r" b="b"/>
            <a:pathLst>
              <a:path w="1673351" h="118872">
                <a:moveTo>
                  <a:pt x="0" y="118872"/>
                </a:moveTo>
                <a:lnTo>
                  <a:pt x="1508760" y="118872"/>
                </a:lnTo>
                <a:lnTo>
                  <a:pt x="1673351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EFFAF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5276088" y="2532888"/>
            <a:ext cx="164591" cy="740664"/>
          </a:xfrm>
          <a:custGeom>
            <a:avLst/>
            <a:gdLst/>
            <a:ahLst/>
            <a:cxnLst/>
            <a:rect l="l" t="t" r="r" b="b"/>
            <a:pathLst>
              <a:path w="164591" h="740664">
                <a:moveTo>
                  <a:pt x="0" y="118872"/>
                </a:moveTo>
                <a:lnTo>
                  <a:pt x="164591" y="0"/>
                </a:lnTo>
                <a:lnTo>
                  <a:pt x="164591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C6E2C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767328" y="265176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E2F2E6"/>
          </a:solidFill>
          <a:ln w="139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67328" y="2651760"/>
            <a:ext cx="45720" cy="621792"/>
          </a:xfrm>
          <a:prstGeom prst="rect">
            <a:avLst/>
          </a:prstGeom>
          <a:solidFill>
            <a:srgbClr val="49915C"/>
          </a:solidFill>
          <a:ln w="1270">
            <a:solidFill>
              <a:srgbClr val="49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0" y="274320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accepted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7056" y="300837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sp>
        <p:nvSpPr>
          <p:cNvPr id="35" name="Freeform 34"/>
          <p:cNvSpPr/>
          <p:nvPr/>
        </p:nvSpPr>
        <p:spPr>
          <a:xfrm>
            <a:off x="6784848" y="2532888"/>
            <a:ext cx="1673352" cy="118872"/>
          </a:xfrm>
          <a:custGeom>
            <a:avLst/>
            <a:gdLst/>
            <a:ahLst/>
            <a:cxnLst/>
            <a:rect l="l" t="t" r="r" b="b"/>
            <a:pathLst>
              <a:path w="1673352" h="118872">
                <a:moveTo>
                  <a:pt x="0" y="118872"/>
                </a:moveTo>
                <a:lnTo>
                  <a:pt x="1508760" y="118872"/>
                </a:lnTo>
                <a:lnTo>
                  <a:pt x="1673352" y="0"/>
                </a:lnTo>
                <a:lnTo>
                  <a:pt x="164592" y="0"/>
                </a:lnTo>
                <a:close/>
              </a:path>
            </a:pathLst>
          </a:custGeom>
          <a:solidFill>
            <a:srgbClr val="FCEEE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8293608" y="2532888"/>
            <a:ext cx="164592" cy="740664"/>
          </a:xfrm>
          <a:custGeom>
            <a:avLst/>
            <a:gdLst/>
            <a:ahLst/>
            <a:cxnLst/>
            <a:rect l="l" t="t" r="r" b="b"/>
            <a:pathLst>
              <a:path w="164592" h="740664">
                <a:moveTo>
                  <a:pt x="0" y="118872"/>
                </a:moveTo>
                <a:lnTo>
                  <a:pt x="164592" y="0"/>
                </a:lnTo>
                <a:lnTo>
                  <a:pt x="164592" y="621792"/>
                </a:lnTo>
                <a:lnTo>
                  <a:pt x="0" y="740664"/>
                </a:lnTo>
                <a:close/>
              </a:path>
            </a:pathLst>
          </a:custGeom>
          <a:solidFill>
            <a:srgbClr val="E8BEB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784848" y="2651760"/>
            <a:ext cx="1508760" cy="621792"/>
          </a:xfrm>
          <a:prstGeom prst="roundRect">
            <a:avLst>
              <a:gd name="adj" fmla="val 8000"/>
            </a:avLst>
          </a:prstGeom>
          <a:solidFill>
            <a:srgbClr val="F7E2E0"/>
          </a:solidFill>
          <a:ln w="13970">
            <a:solidFill>
              <a:srgbClr val="B4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784848" y="2651760"/>
            <a:ext cx="45720" cy="621792"/>
          </a:xfrm>
          <a:prstGeom prst="rect">
            <a:avLst/>
          </a:prstGeom>
          <a:solidFill>
            <a:srgbClr val="B44C45"/>
          </a:solidFill>
          <a:ln w="1270">
            <a:solidFill>
              <a:srgbClr val="B4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0" y="2743200"/>
            <a:ext cx="1362456" cy="219456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1019" b="1">
                <a:solidFill>
                  <a:srgbClr val="1F2730"/>
                </a:solidFill>
                <a:latin typeface="Arial"/>
              </a:rPr>
              <a:t>rejected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576" y="3008376"/>
            <a:ext cx="1289304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780" b="0">
                <a:solidFill>
                  <a:srgbClr val="5C6874"/>
                </a:solidFill>
                <a:latin typeface="Arial"/>
              </a:rPr>
              <a:t>editable
shape group</a:t>
            </a:r>
          </a:p>
        </p:txBody>
      </p:sp>
      <p:cxnSp>
        <p:nvCxnSpPr>
          <p:cNvPr id="41" name="flow_arrow"/>
          <p:cNvCxnSpPr/>
          <p:nvPr/>
        </p:nvCxnSpPr>
        <p:spPr>
          <a:xfrm>
            <a:off x="914400" y="4892040"/>
            <a:ext cx="1143000" cy="0"/>
          </a:xfrm>
          <a:prstGeom prst="line">
            <a:avLst/>
          </a:prstGeom>
          <a:ln w="22860">
            <a:solidFill>
              <a:srgbClr val="4877B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flow_arrow"/>
          <p:cNvCxnSpPr/>
          <p:nvPr/>
        </p:nvCxnSpPr>
        <p:spPr>
          <a:xfrm>
            <a:off x="2743200" y="4892040"/>
            <a:ext cx="1143000" cy="0"/>
          </a:xfrm>
          <a:prstGeom prst="line">
            <a:avLst/>
          </a:prstGeom>
          <a:ln w="13970">
            <a:solidFill>
              <a:srgbClr val="5C6874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1520" y="5138928"/>
            <a:ext cx="150876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0">
                <a:solidFill>
                  <a:srgbClr val="5C6874"/>
                </a:solidFill>
                <a:latin typeface="Arial"/>
              </a:rPr>
              <a:t>solid dependency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138928"/>
            <a:ext cx="1508760" cy="201168"/>
          </a:xfrm>
          <a:prstGeom prst="rect">
            <a:avLst/>
          </a:prstGeom>
          <a:noFill/>
        </p:spPr>
        <p:txBody>
          <a:bodyPr wrap="none" lIns="19050" tIns="12700" rIns="19050" bIns="12700" anchor="ctr">
            <a:spAutoFit/>
          </a:bodyPr>
          <a:lstStyle/>
          <a:p>
            <a:pPr algn="ctr"/>
            <a:r>
              <a:rPr sz="800" b="0">
                <a:solidFill>
                  <a:srgbClr val="5C6874"/>
                </a:solidFill>
                <a:latin typeface="Arial"/>
              </a:rPr>
              <a:t>evidence 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宽屏</PresentationFormat>
  <Paragraphs>61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zixuan Liu</cp:lastModifiedBy>
  <cp:revision>2</cp:revision>
  <dcterms:created xsi:type="dcterms:W3CDTF">2013-01-27T09:14:16Z</dcterms:created>
  <dcterms:modified xsi:type="dcterms:W3CDTF">2026-08-08T21:34:08Z</dcterms:modified>
  <cp:category/>
</cp:coreProperties>
</file>